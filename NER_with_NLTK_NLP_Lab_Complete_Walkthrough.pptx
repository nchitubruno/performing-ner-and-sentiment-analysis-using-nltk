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52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8278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572000" cy="6400800"/>
          </a:xfrm>
          <a:prstGeom prst="rect">
            <a:avLst/>
          </a:prstGeom>
          <a:solidFill>
            <a:srgbClr val="1A2D42">
              <a:alpha val="60000"/>
            </a:srgbClr>
          </a:solidFill>
          <a:ln w="12700">
            <a:solidFill>
              <a:srgbClr val="1A2D42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 ·  scikit-learn  ·  Women's E-Commerce Reviews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NER, Sentiment Analysis</a:t>
            </a:r>
            <a:endParaRPr lang="en-US" sz="5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Product Recommender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365760" y="29718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walkthrough of Named Entity Recognition, VADER Sentiment Scoring,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Vectorisation and a Content-Based Recommender built with Python.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3977640"/>
            <a:ext cx="626364" cy="347472"/>
          </a:xfrm>
          <a:prstGeom prst="roundRect">
            <a:avLst>
              <a:gd name="adj" fmla="val 21053"/>
            </a:avLst>
          </a:prstGeom>
          <a:solidFill>
            <a:srgbClr val="1E2D4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977640"/>
            <a:ext cx="6263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29284" y="3977640"/>
            <a:ext cx="800100" cy="347472"/>
          </a:xfrm>
          <a:prstGeom prst="roundRect">
            <a:avLst>
              <a:gd name="adj" fmla="val 21053"/>
            </a:avLst>
          </a:prstGeom>
          <a:solidFill>
            <a:srgbClr val="1E2D4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9284" y="3977640"/>
            <a:ext cx="8001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66544" y="3977640"/>
            <a:ext cx="886968" cy="347472"/>
          </a:xfrm>
          <a:prstGeom prst="roundRect">
            <a:avLst>
              <a:gd name="adj" fmla="val 21053"/>
            </a:avLst>
          </a:prstGeom>
          <a:solidFill>
            <a:srgbClr val="1E2D4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66544" y="3977640"/>
            <a:ext cx="886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90672" y="3977640"/>
            <a:ext cx="1842516" cy="347472"/>
          </a:xfrm>
          <a:prstGeom prst="roundRect">
            <a:avLst>
              <a:gd name="adj" fmla="val 21053"/>
            </a:avLst>
          </a:prstGeom>
          <a:solidFill>
            <a:srgbClr val="1E2D4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0672" y="3977640"/>
            <a:ext cx="18425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70348" y="3977640"/>
            <a:ext cx="1929384" cy="347472"/>
          </a:xfrm>
          <a:prstGeom prst="roundRect">
            <a:avLst>
              <a:gd name="adj" fmla="val 21053"/>
            </a:avLst>
          </a:prstGeom>
          <a:solidFill>
            <a:srgbClr val="1E2D4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0348" y="3977640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23,486 Reviews  |  1,179 Unique Items  |  11 Columns  |  Steps 1–9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STEPS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554480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961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Clean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47088" y="1508760"/>
            <a:ext cx="146304" cy="0"/>
          </a:xfrm>
          <a:prstGeom prst="line">
            <a:avLst/>
          </a:prstGeom>
          <a:noFill/>
          <a:ln w="25400">
            <a:solidFill>
              <a:srgbClr val="0F19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822960"/>
            <a:ext cx="1554480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8961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1280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1691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tokenize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84448" y="1508760"/>
            <a:ext cx="146304" cy="0"/>
          </a:xfrm>
          <a:prstGeom prst="line">
            <a:avLst/>
          </a:prstGeom>
          <a:noFill/>
          <a:ln w="25400">
            <a:solidFill>
              <a:srgbClr val="0F19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822960"/>
            <a:ext cx="1554480" cy="1371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8961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49040" y="1280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Sentiment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1691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VADER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21808" y="1508760"/>
            <a:ext cx="146304" cy="0"/>
          </a:xfrm>
          <a:prstGeom prst="line">
            <a:avLst/>
          </a:prstGeom>
          <a:noFill/>
          <a:ln w="25400">
            <a:solidFill>
              <a:srgbClr val="0F19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822960"/>
            <a:ext cx="1554480" cy="1371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8961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0" y="1280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1691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ne_chunk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059168" y="1508760"/>
            <a:ext cx="146304" cy="0"/>
          </a:xfrm>
          <a:prstGeom prst="line">
            <a:avLst/>
          </a:prstGeom>
          <a:noFill/>
          <a:ln w="25400">
            <a:solidFill>
              <a:srgbClr val="0F192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822960"/>
            <a:ext cx="1554480" cy="1371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23760" y="8961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23760" y="1280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23760" y="1691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groupby/agg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412480" y="1508760"/>
            <a:ext cx="0" cy="502920"/>
          </a:xfrm>
          <a:prstGeom prst="line">
            <a:avLst/>
          </a:prstGeom>
          <a:noFill/>
          <a:ln w="25400">
            <a:solidFill>
              <a:srgbClr val="0F19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2377440"/>
            <a:ext cx="1554480" cy="1371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23760" y="24505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23760" y="2834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23760" y="32461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ranking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59168" y="3063240"/>
            <a:ext cx="146304" cy="0"/>
          </a:xfrm>
          <a:prstGeom prst="line">
            <a:avLst/>
          </a:prstGeom>
          <a:noFill/>
          <a:ln w="25400">
            <a:solidFill>
              <a:srgbClr val="0F192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0" y="2377440"/>
            <a:ext cx="155448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0" y="24505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486400" y="2834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0" y="32461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text+30% sentiment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21808" y="3063240"/>
            <a:ext cx="146304" cy="0"/>
          </a:xfrm>
          <a:prstGeom prst="line">
            <a:avLst/>
          </a:prstGeom>
          <a:noFill/>
          <a:ln w="25400">
            <a:solidFill>
              <a:srgbClr val="0F192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49040" y="2377440"/>
            <a:ext cx="155448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749040" y="24505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749040" y="2834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749040" y="32461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cosine_similarity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584448" y="3063240"/>
            <a:ext cx="146304" cy="0"/>
          </a:xfrm>
          <a:prstGeom prst="line">
            <a:avLst/>
          </a:prstGeom>
          <a:noFill/>
          <a:ln w="25400">
            <a:solidFill>
              <a:srgbClr val="0F192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11680" y="2377440"/>
            <a:ext cx="1554480" cy="1371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011680" y="24505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2011680" y="2834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011680" y="32461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TfidfVectorizer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3977640"/>
            <a:ext cx="8595360" cy="868680"/>
          </a:xfrm>
          <a:prstGeom prst="rect">
            <a:avLst/>
          </a:prstGeom>
          <a:solidFill>
            <a:srgbClr val="0F1923"/>
          </a:solidFill>
          <a:ln w="12700">
            <a:solidFill>
              <a:srgbClr val="38BDF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11480" y="397764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Final Output: Sentiment-labelled reviews  +  Item features  +  Real-time Content-Based Recommender returning top-5 similar items with ~0.98 similarity score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&amp; 2 — Load, Clean &amp; Pre-process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02336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—  Load &amp; Clean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023360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234440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
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 CSV with pandas (23,486 rows)
• Drop rows with no Review Text → 22,641 kept
• Fill NaN in Title, Division, Dept, Class
</a:t>
            </a: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achieves:
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clean, complete DataFrame ready for NLP
• No missing values in key columns
• Consistent data types throughout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20624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777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—  Pre-process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206240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234440"/>
            <a:ext cx="39319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
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clean_text(): lowercase + strip punctuation
• word_tokenize(): split into word tokens
• Remove NLTK stopwords (e.g. 'the','is','a')
• Drop tokens shorter than 3 characters
</a:t>
            </a: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achieves:
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Noise-free token lists per review
• TF-IDF only sees meaningful words
• 50–70% reduction in vocabulary size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913632"/>
            <a:ext cx="8595360" cy="96012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9319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" y="41879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"Love this dress! It's sooo pretty. I happened to find it in a store, and i'm glad i did…"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15968" y="41605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39319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(tokens)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63440" y="418795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['love','dress','sooo','pretty','happened','find','store','glad']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VADER Sentiment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212080" cy="18745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521208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77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VADER?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Valence Aware Dictionary and sEntiment Reasoner
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into NLTK — zero training required
• Returns a compound score from −1.0 to +1.0
</a:t>
            </a: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≥ 0.05  →  Positive
</a:t>
            </a: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≤ −0.05  →  Negative
</a:t>
            </a: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Between −0.05 and 0.05  →  Neutral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788920"/>
            <a:ext cx="5212080" cy="1463040"/>
          </a:xfrm>
          <a:prstGeom prst="rect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8346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achieves: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1546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review gets a numeric sentiment_score
• + a sentiment_label (Positive / Negative / Neutral)
• Labels feed the recommender as sentiment proximity
</a:t>
            </a: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Validation: score rises cleanly 1★→5★ 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777240"/>
            <a:ext cx="3291840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83210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92.7%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669280" y="132588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 ·  20,987 reviews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1828800"/>
            <a:ext cx="329184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0" y="188366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669280" y="237744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 ·  1,377 reviews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2880360"/>
            <a:ext cx="32918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69280" y="293522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669280" y="3429000"/>
            <a:ext cx="3291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 ·  277 reviews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3434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compound score vs. star rating — accuracy check: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626864"/>
          <a:ext cx="8595360" cy="548640"/>
        </p:xfrm>
        <a:graphic>
          <a:graphicData uri="http://schemas.openxmlformats.org/drawingml/2006/table">
            <a:tbl>
              <a:tblPr/>
              <a:tblGrid>
                <a:gridCol w="1828800"/>
                <a:gridCol w="1353312"/>
                <a:gridCol w="1353312"/>
                <a:gridCol w="1353312"/>
                <a:gridCol w="1353312"/>
                <a:gridCol w="1353312"/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VADER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Named Entity Recognition (NER)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1440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9601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word_tokenize(text)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2704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each sentence into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word tokens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35808" y="14630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8BDF8"/>
                </a:solidFill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46120" y="777240"/>
            <a:ext cx="274320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91440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77640" y="9601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pos_tag(tokens)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152704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each token with its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Part-of-Speech (NN, VB…)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07608" y="146304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8BDF8"/>
                </a:solidFill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777240"/>
            <a:ext cx="274320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22C55E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914400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9601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ne_chunk(tagged)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152704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tagged tokens into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named-entity Tree subtrees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2788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Types Extracted from Reviews: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154680"/>
            <a:ext cx="109728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15468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44752" y="3191256"/>
            <a:ext cx="2926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Cities, countries, regions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44752" y="35387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"New York, Paris"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15468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154680"/>
            <a:ext cx="109728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15468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79592" y="3191256"/>
            <a:ext cx="2926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names mentioned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79592" y="35387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"Sarah, Anna"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02336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4023360"/>
            <a:ext cx="1097280" cy="7498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02336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444752" y="4059936"/>
            <a:ext cx="2926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company names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44752" y="44074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"Nordstrom, Zara"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9160" y="402336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4023360"/>
            <a:ext cx="109728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02336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79592" y="4059936"/>
            <a:ext cx="2926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buildings &amp; places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879592" y="44074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"Store, Mall"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solidFill>
            <a:srgbClr val="0F192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77316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"I bought this dress in New York last summer"  →  Entity found: 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0" y="47731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("New York", "GPE")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 &amp; 6 — Feature Engineering &amp; TF-IDF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5–6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—  Feature Engineering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07008"/>
            <a:ext cx="4114800" cy="219456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252728"/>
            <a:ext cx="384048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
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Groups all 22,641 reviews by Clothing ID
• Calculates per-item aggregates:
</a:t>
            </a: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avg_sentiment, avg_rating, review_count
    recommend_rate, combined_text
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Appends metadata (dept+class) × 2 for weight
</a:t>
            </a: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achieves:
</a:t>
            </a: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22,641 rows  →  1,179 item-level rows
• Each item has rich text + numeric profile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777240"/>
            <a:ext cx="42976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7772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—  TF-IDF Vectorisation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207008"/>
            <a:ext cx="4297680" cy="219456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252728"/>
            <a:ext cx="4023360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
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Converts each item's combined_text into a
  numeric vector using TfidfVectorizer
• max_features = 2,000 (top terms only)
• ngram_range = (1,2)  →  bigrams included
• min_df = 2  →  ignore extremely rare words
</a:t>
            </a: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achieves:
</a:t>
            </a: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Output: matrix shape  1,179 × 2,000
• High TF-IDF = word is key to THIS item
• Foundation for cosine similarity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547872"/>
            <a:ext cx="8595360" cy="1353312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58444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TF-IDF turns text into numbers: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913632"/>
            <a:ext cx="2377440" cy="8686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50208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"love fabric silky fit true size comfortable…"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34640" y="40416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TF-IDF  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97680" y="3913632"/>
            <a:ext cx="4434840" cy="8686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3977640"/>
            <a:ext cx="4343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[0.00, 0.31, 0.00, 0.18, 0.45, 0.00, 0.27, 0.09, 0.00, 0.19, … 2000 dims]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7 &amp; 8 — Cosine Similarity &amp; Recommender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7–8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621792"/>
          </a:xfrm>
          <a:prstGeom prst="rect">
            <a:avLst/>
          </a:prstGeom>
          <a:solidFill>
            <a:srgbClr val="162032"/>
          </a:solidFill>
          <a:ln w="12700">
            <a:solidFill>
              <a:srgbClr val="38BDF8"/>
            </a:solidFill>
            <a:prstDash val="solid"/>
          </a:ln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7772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Similarity Score  =  </a:t>
            </a: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Text Cosine Similarity  +  </a:t>
            </a: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Sentiment Proximity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4114800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361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 —  Cosine Similarity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4114800" cy="16459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965960"/>
            <a:ext cx="3840480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
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Computes cosine_similarity(tfidf_matrix)
• Produces a 1,179 × 1,179 similarity matrix
• Each cell = similarity score 0.0 → 1.0
</a:t>
            </a: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achieves:
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item pair has a similarity score
• 1.0 = identical text profile
• 0.0 = completely different descriptions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1536192"/>
            <a:ext cx="429768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5361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 —  Recommender Function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920240"/>
            <a:ext cx="4297680" cy="164592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965960"/>
            <a:ext cx="4023360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
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Takes a Clothing ID as input
• Retrieves text cosine scores for that item
• Adds 30% sentiment proximity weight
• Returns top-N items sorted by combined score
</a:t>
            </a: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achieves:
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Recommends items described similarly by reviewers
• Sentiment-aware: high-rated items suggest others
• Explainable — each score is traceable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3703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Query: Clothing ID 1078  (Dresses, 4.19★, sentiment +0.74):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005072"/>
          <a:ext cx="8595360" cy="1295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188720"/>
                <a:gridCol w="1188720"/>
                <a:gridCol w="1371600"/>
                <a:gridCol w="1005840"/>
                <a:gridCol w="1188720"/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Sentiment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923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4.27★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4.19★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4.04★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4.27★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— Results, Rankings &amp; Outputs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A — Top items by VADER sentiment (≥5 reviews):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51560" y="1097280"/>
            <a:ext cx="3578047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641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1047" y="10972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  (Tops)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51560" y="1499616"/>
            <a:ext cx="3499409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99616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870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42409" y="149961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  (Tops)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51560" y="1901952"/>
            <a:ext cx="342077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01952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1110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63770" y="19019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  (Dresses)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51560" y="2304288"/>
            <a:ext cx="3381451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304288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528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24451" y="23042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  (Jackets)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51560" y="2706624"/>
            <a:ext cx="334213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06624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412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5132" y="27066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  (Bottoms)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312724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B — Top items by recommendation rate (≥5 reviews):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51560" y="3474720"/>
            <a:ext cx="393192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47472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1010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7492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(Tops)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51560" y="3849624"/>
            <a:ext cx="393192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84962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882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74920" y="3849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(Dresses)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51560" y="4224528"/>
            <a:ext cx="3853282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224528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462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96282" y="4224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 (Dresses)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51560" y="4599432"/>
            <a:ext cx="3813962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59943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873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56962" y="4599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 (Tops)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94960" y="74980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Output Files: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94960" y="1097280"/>
            <a:ext cx="347472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38BDF8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0" y="113385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reviews_with_sentiment.csv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0" y="1444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22,641 reviews with VADER score &amp; label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94960" y="1901952"/>
            <a:ext cx="347472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38BDF8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486400" y="193852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item_features.csv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0" y="22494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1,179 items with aggregated features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94960" y="2706624"/>
            <a:ext cx="347472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38BDF8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486400" y="27432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nlp_lab_...py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0" y="30540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annotated Python script (9 steps)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590288"/>
            <a:ext cx="201168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74320" y="460857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22,641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274320" y="48828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Processed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468880" y="4590288"/>
            <a:ext cx="2011680" cy="530352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468880" y="460857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92.7%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2468880" y="48828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Sentiment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63440" y="4590288"/>
            <a:ext cx="2011680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663440" y="460857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+0.64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4663440" y="48828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VADER Score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58000" y="4590288"/>
            <a:ext cx="2011680" cy="530352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858000" y="460857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~0.98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6858000" y="48828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Rec. Similarity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End to 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step, what it does, and what it achieves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743200" cy="1115568"/>
          </a:xfrm>
          <a:prstGeom prst="rect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98448"/>
            <a:ext cx="475488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98448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353312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Clean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700784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23,486 rows; drop nulls → 22,641 usable reviews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298448"/>
            <a:ext cx="2743200" cy="1115568"/>
          </a:xfrm>
          <a:prstGeom prst="rect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98448"/>
            <a:ext cx="475488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298448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94760" y="1353312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1700784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→ tokenise → remove stopwords → meaningful tokens per review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298448"/>
            <a:ext cx="2743200" cy="1115568"/>
          </a:xfrm>
          <a:prstGeom prst="rect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298448"/>
            <a:ext cx="475488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298448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66560" y="1353312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Sentiment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1700784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 −1→+1; 92.7% Positive; score tracks star rating perfectly ✓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532888"/>
            <a:ext cx="2743200" cy="1115568"/>
          </a:xfrm>
          <a:prstGeom prst="rect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532888"/>
            <a:ext cx="475488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532888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2587752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Pipeline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2935224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word_tokenize → pos_tag → ne_chunk; extracts GPE, PERSON, ORG from review text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2532888"/>
            <a:ext cx="2743200" cy="1115568"/>
          </a:xfrm>
          <a:prstGeom prst="rect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532888"/>
            <a:ext cx="475488" cy="11155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532888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794760" y="2587752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94760" y="2935224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22K reviews into 1,179 item records with sentiment, rating &amp; combined text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2532888"/>
            <a:ext cx="2743200" cy="1115568"/>
          </a:xfrm>
          <a:prstGeom prst="rect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532888"/>
            <a:ext cx="475488" cy="11155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532888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766560" y="2587752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66560" y="2935224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2,000-feature bigram vectors; output matrix 1,179 × 2,000 — each row is one item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767328"/>
            <a:ext cx="2743200" cy="1115568"/>
          </a:xfrm>
          <a:prstGeom prst="rect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767328"/>
            <a:ext cx="47548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767328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2960" y="3822192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2960" y="4169664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1,179 × 1,179 similarity matrix; each cell = content match score between two items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46120" y="3767328"/>
            <a:ext cx="2743200" cy="1115568"/>
          </a:xfrm>
          <a:prstGeom prst="rect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46120" y="3767328"/>
            <a:ext cx="47548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46120" y="3767328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3794760" y="3822192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794760" y="4169664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= 70% text cosine + 30% sentiment proximity → top-5 similar items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17920" y="3767328"/>
            <a:ext cx="2743200" cy="1115568"/>
          </a:xfrm>
          <a:prstGeom prst="rect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217920" y="3767328"/>
            <a:ext cx="475488" cy="11155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3767328"/>
            <a:ext cx="475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766560" y="3822192"/>
            <a:ext cx="2121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766560" y="4169664"/>
            <a:ext cx="21214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Top-sentiment &amp; top-recommended rankings; 3 saved output files; KPI dashboard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912</Words>
  <Application>Microsoft Office PowerPoint</Application>
  <PresentationFormat>On-screen Show (16:9)</PresentationFormat>
  <Paragraphs>236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BACCUL-IT</cp:lastModifiedBy>
  <cp:revision>1</cp:revision>
  <dcterms:created xsi:type="dcterms:W3CDTF">2026-05-31T05:11:58Z</dcterms:created>
  <dcterms:modified xsi:type="dcterms:W3CDTF">2026-05-31T06:25:17Z</dcterms:modified>
</cp:coreProperties>
</file>